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  <p:sldId id="264" r:id="rId4"/>
    <p:sldId id="258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8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8235-5209-13A3-76F7-F5F12F38F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200961-E2CB-A63A-13FE-2839465DE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E93CE-0078-678C-ED4C-C397F14B0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F278F-D8DD-F35F-64C5-193BAA9B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A3F72-4C95-5467-F47A-F3117154A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86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5C31-D812-1FE3-2F18-19F685CA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C3E9C-9BEE-8E84-498A-0B060FB3B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225B9-3A69-849A-B74F-E39F3FDF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C33DA-2971-37FB-6881-B0332A3A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83B25-7384-5621-35DF-B2A3CFE05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1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B5C6-BBC3-93D3-D293-DBC9007AC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8C9F5-855D-EFD2-F6B4-817927072C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A2A1-F48C-8EC5-F546-47543EC0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3664-F659-EC34-B6B3-0DA38ED1A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F0DDE-682C-EFE2-254C-BE89A11A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92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7762-EC99-A535-D0EB-76FAF0AF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75CFC-72B2-4BBF-47AE-599373B9B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809B3-77E0-2A41-947D-38BE12BAF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61346-BA97-F573-2C45-0A970AF1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2439C-765C-DE17-BCC9-BDD37B6FB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BCC49-99DC-81C6-AB69-4F85F7D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41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05B0-84F0-CCCF-E1FF-072714D5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5D942-4515-AA75-6542-106C0B58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C49AA-CD98-D452-B5CD-AC0A4D73F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FFE53D-FBF2-0879-C43E-09414173F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81056-092E-6C7D-CCA4-705C67FD7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51DD67-C2AE-1FC6-7918-43328B9F5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4D290-DE67-7F23-A008-37D509C9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195540-9985-BF38-F4FE-FC3E93E76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98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8F211-3CF5-D7D7-1723-8C07F92FF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0F9E54-224C-3C6D-8D0D-A6969666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78EB6-FDD3-42A5-5623-FA793BC5F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6EB02-F16D-915C-C591-1FBE0C6E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15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9262FE-1357-F6DE-E119-7C28436B5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27AC5-6BE5-3B84-4305-3BB9BD419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B3FE8-72C5-18BB-4614-37E07C1B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23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3E49-A2E4-9F76-0EEE-67FE9F52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4FAA5-CEF3-B0B5-AADB-9E38AF939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DF7B8-C31D-8432-F5F4-C03A0E3DD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7F995-3F58-0E51-43A4-AA69A66F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88530-6861-72CA-B4FF-3202FC4F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C03874-1EDD-6326-1390-F91FFE1A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666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93EF-E6D7-819A-5976-88803F78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2C097-F6F1-611A-0CFA-F2956E6B8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924CB-F711-DDCF-56C3-9B16B2031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F78F21-4BC3-CAB2-683A-52FA575A9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47F9C-AE08-932A-8C76-62151E1E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22DE3-E2D0-7D46-D4B5-BC6207A7E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07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ACBB-FFE2-6F99-BF81-C6916ED9E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F1FD1-2CCE-8BB8-AA5D-DB4DC8D3F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61E88-A8FC-A260-A228-3BD36B39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00A3A-582F-E12F-8598-96645471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05237-0649-A84E-F3C8-CA8EE12EA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41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D1D1A2-6EAF-A3AB-BE52-03008DC96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A6812-A598-D13C-B404-C257FB973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96490-0407-00C1-B56A-C9272DA7E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F79EB-022C-2B45-D0D8-98A6E267C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BE006-0A34-BDF5-856D-99CA6806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07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95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06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9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984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73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5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409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28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037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164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C9214B-0DEF-DBC2-03AD-5E5E6CBA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8895C-7D1C-D649-56F0-56E142191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A62B7-6641-B5A4-88B3-38FE27EC7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D4A295-6FA4-4854-AAC0-882C418D1AC3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07FA3-26EA-2636-AFEF-A3E5DC1F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3A44-A0BD-6774-2645-82D15EA7B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44801-7D59-406F-9946-F7C9C5852A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31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0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746277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2073622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SERVICENOW ITSM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604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44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Transforming Workflow Efficiency &amp; 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93777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 strategic blueprint to eliminate approval delays, automate queue routing, standardize templates, and accelerate major incident resolution.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4DD30C-F4CC-02EB-57F2-B8164761D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660" y="5700334"/>
            <a:ext cx="2034489" cy="1157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A152E6-1E86-6205-8DBB-2F2E052963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28342"/>
            <a:ext cx="1801757" cy="11296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034778"/>
            <a:ext cx="3530500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600" y="2034778"/>
            <a:ext cx="3530649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750" y="2034778"/>
            <a:ext cx="3530500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19550"/>
            <a:ext cx="3530500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600" y="4019550"/>
            <a:ext cx="3530649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750" y="4019550"/>
            <a:ext cx="3530500" cy="1794271"/>
          </a:xfrm>
          <a:prstGeom prst="roundRect">
            <a:avLst>
              <a:gd name="adj" fmla="val 637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72903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725" y="2272903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9875" y="2272903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257675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8725" y="4257675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875" y="425767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368153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9688" y="2368153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8937" y="2368153"/>
            <a:ext cx="14287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9162" y="4352925"/>
            <a:ext cx="238125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3975" y="4352925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5125" y="4352925"/>
            <a:ext cx="19050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Space Grotesk"/>
              </a:rPr>
              <a:t>STRATEGIC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04850"/>
            <a:ext cx="4659609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Core Transformation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806303"/>
            <a:ext cx="40087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Fast-Track Approvals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111103"/>
            <a:ext cx="3149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Bypass manual CAB queues for routine, low-risk requests.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8725" y="2806303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Domain Queue Routing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8725" y="3111103"/>
            <a:ext cx="314964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Eliminate generic inbox traps with tech-specific queues.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9875" y="2806303"/>
            <a:ext cx="39021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Template Standardization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9875" y="3111103"/>
            <a:ext cx="3149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Pre-fill complex form fields to eradicate typing errors.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4791075"/>
            <a:ext cx="400870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Unified SR &amp; CR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5095875"/>
            <a:ext cx="3149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Merge request and change steps to remove double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8725" y="4791075"/>
            <a:ext cx="400889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Automated P1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725" y="5095875"/>
            <a:ext cx="3149649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Auto-call on-call engineers and launch bridge in 2 mins.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9875" y="4791075"/>
            <a:ext cx="3902124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Reduced Delay Times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9875" y="5095875"/>
            <a:ext cx="31495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Cut operational friction and speed up resolution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77C3F-C7A6-D3B7-1AB8-F655C16F7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07" y="1455726"/>
            <a:ext cx="8079432" cy="45992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286A0C-87B2-502F-4682-962648663850}"/>
              </a:ext>
            </a:extLst>
          </p:cNvPr>
          <p:cNvSpPr txBox="1"/>
          <p:nvPr/>
        </p:nvSpPr>
        <p:spPr>
          <a:xfrm>
            <a:off x="301706" y="572460"/>
            <a:ext cx="8265991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Optimizing Major Incident Management via Automated Validation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B1EC2-29CE-C7FD-7E17-D230F79D3296}"/>
              </a:ext>
            </a:extLst>
          </p:cNvPr>
          <p:cNvSpPr txBox="1"/>
          <p:nvPr/>
        </p:nvSpPr>
        <p:spPr>
          <a:xfrm>
            <a:off x="8744757" y="2479852"/>
            <a:ext cx="31455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Enforced Criteria Validation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Automated On-Call Escalation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Instant Bridge Creation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97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AD9F4-0ABA-0BBF-D3E7-7E54CF1F0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43" y="1705856"/>
            <a:ext cx="8079122" cy="44067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0FE0C4-FE88-0FFA-8A06-9D823D80CA63}"/>
              </a:ext>
            </a:extLst>
          </p:cNvPr>
          <p:cNvSpPr txBox="1"/>
          <p:nvPr/>
        </p:nvSpPr>
        <p:spPr>
          <a:xfrm>
            <a:off x="368834" y="745351"/>
            <a:ext cx="8160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Unifying Workflows for Streamlined Process Execution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95349-D3BC-E05E-A159-2A4DF73249CA}"/>
              </a:ext>
            </a:extLst>
          </p:cNvPr>
          <p:cNvSpPr txBox="1"/>
          <p:nvPr/>
        </p:nvSpPr>
        <p:spPr>
          <a:xfrm>
            <a:off x="8698326" y="1924094"/>
            <a:ext cx="27739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Single Centralized Entry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Merged SR &amp; CR Approvals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Integrated Request-to-Change Workflow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Targeted Execution Pathways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Faster End-to-End Delivery (Measurable Impact)</a:t>
            </a:r>
          </a:p>
        </p:txBody>
      </p:sp>
    </p:spTree>
    <p:extLst>
      <p:ext uri="{BB962C8B-B14F-4D97-AF65-F5344CB8AC3E}">
        <p14:creationId xmlns:p14="http://schemas.microsoft.com/office/powerpoint/2010/main" val="1885889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714D7-67F1-52E7-899C-AAAE1DCA8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56" y="1490703"/>
            <a:ext cx="8362726" cy="45566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561D3-04EB-52F2-311B-55A0904EEC9B}"/>
              </a:ext>
            </a:extLst>
          </p:cNvPr>
          <p:cNvSpPr txBox="1"/>
          <p:nvPr/>
        </p:nvSpPr>
        <p:spPr>
          <a:xfrm>
            <a:off x="404755" y="706433"/>
            <a:ext cx="80707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Accelerating Request Fulfilment via ServiceNow Templates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3EE8D-EFAC-23C8-0110-CA91D21C6F28}"/>
              </a:ext>
            </a:extLst>
          </p:cNvPr>
          <p:cNvSpPr txBox="1"/>
          <p:nvPr/>
        </p:nvSpPr>
        <p:spPr>
          <a:xfrm>
            <a:off x="9005688" y="2374366"/>
            <a:ext cx="26432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Pre-Approved Standard Changes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Auto-Filled Form Templates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Error-Free Data Entry like assignment Group </a:t>
            </a:r>
          </a:p>
        </p:txBody>
      </p:sp>
    </p:spTree>
    <p:extLst>
      <p:ext uri="{BB962C8B-B14F-4D97-AF65-F5344CB8AC3E}">
        <p14:creationId xmlns:p14="http://schemas.microsoft.com/office/powerpoint/2010/main" val="104491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A0876-CB53-8167-7140-EA127EF40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34" y="1383126"/>
            <a:ext cx="7894222" cy="4716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BE787-A5F6-00E4-08C7-440A9AE637C1}"/>
              </a:ext>
            </a:extLst>
          </p:cNvPr>
          <p:cNvSpPr txBox="1"/>
          <p:nvPr/>
        </p:nvSpPr>
        <p:spPr>
          <a:xfrm>
            <a:off x="436046" y="558121"/>
            <a:ext cx="4454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Defined SNOW Queue Management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BADC7E-2D5A-B245-A268-17A9DDF2B1CB}"/>
              </a:ext>
            </a:extLst>
          </p:cNvPr>
          <p:cNvSpPr txBox="1"/>
          <p:nvPr/>
        </p:nvSpPr>
        <p:spPr>
          <a:xfrm>
            <a:off x="8585656" y="2236053"/>
            <a:ext cx="32855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Direct Tech-Stack Assignment: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Clear Accountable Ownership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Drastic Reduction in Wait Times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Resulting Faster resolution time</a:t>
            </a:r>
          </a:p>
        </p:txBody>
      </p:sp>
    </p:spTree>
    <p:extLst>
      <p:ext uri="{BB962C8B-B14F-4D97-AF65-F5344CB8AC3E}">
        <p14:creationId xmlns:p14="http://schemas.microsoft.com/office/powerpoint/2010/main" val="352666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5DBBC-79F2-A379-B0AE-57F7649BD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30" y="1363953"/>
            <a:ext cx="8457268" cy="50368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4812F7-62B9-D2C8-CCE0-B0B2C33E51C8}"/>
              </a:ext>
            </a:extLst>
          </p:cNvPr>
          <p:cNvSpPr txBox="1"/>
          <p:nvPr/>
        </p:nvSpPr>
        <p:spPr>
          <a:xfrm>
            <a:off x="292130" y="522514"/>
            <a:ext cx="86061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Aptos Display" panose="020B0004020202020204" pitchFamily="34" charset="0"/>
              </a:rPr>
              <a:t>Streamlining Change Approvals for Faster Delivery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7A5CDA-4120-F0F0-551F-020BB789242C}"/>
              </a:ext>
            </a:extLst>
          </p:cNvPr>
          <p:cNvSpPr txBox="1"/>
          <p:nvPr/>
        </p:nvSpPr>
        <p:spPr>
          <a:xfrm>
            <a:off x="8821134" y="2207172"/>
            <a:ext cx="29005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Eliminated Email Bottlenecks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Immediate Non-Prod Execution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b="1" dirty="0">
              <a:latin typeface="Consolas" panose="020B0609020204030204" pitchFamily="49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atin typeface="Consolas" panose="020B0609020204030204" pitchFamily="49" charset="0"/>
              </a:rPr>
              <a:t>Automated Fast-Tracking for Routine Production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52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867400" y="48387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1968" y="1981200"/>
            <a:ext cx="3548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EXPECTED BUSINESS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333625"/>
            <a:ext cx="10001250" cy="1743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Faster Delivery, Zero Email Bottlenecks, Enhanced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179" y="4305300"/>
            <a:ext cx="365164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Segoe UI Black" panose="020B0A02040204020203" pitchFamily="34" charset="0"/>
                <a:ea typeface="Segoe UI Black" panose="020B0A02040204020203" pitchFamily="34" charset="0"/>
              </a:rPr>
              <a:t>Questions &amp; Open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224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 Display</vt:lpstr>
      <vt:lpstr>Arial</vt:lpstr>
      <vt:lpstr>Calibri</vt:lpstr>
      <vt:lpstr>Calibri Light</vt:lpstr>
      <vt:lpstr>Consolas</vt:lpstr>
      <vt:lpstr>Inter</vt:lpstr>
      <vt:lpstr>Segoe UI Black</vt:lpstr>
      <vt:lpstr>Space Grotesk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Santanu Hajra</dc:creator>
  <cp:lastModifiedBy>Santanu Hajra</cp:lastModifiedBy>
  <cp:revision>4</cp:revision>
  <dcterms:created xsi:type="dcterms:W3CDTF">2026-09-27T10:30:47Z</dcterms:created>
  <dcterms:modified xsi:type="dcterms:W3CDTF">2026-09-28T17:38:42Z</dcterms:modified>
</cp:coreProperties>
</file>